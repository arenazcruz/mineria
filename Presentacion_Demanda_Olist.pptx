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C7A468"/>
                </a:solidFill>
                <a:latin typeface="Georgia"/>
              </a:rPr>
              <a:t>Fase 1: entendimiento del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ECE8E1"/>
                </a:solidFill>
                <a:latin typeface="Georgia"/>
              </a:rPr>
              <a:t>Del reabastecimiento reactivo al stock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BA1A8"/>
                </a:solidFill>
                <a:latin typeface="Calibri"/>
              </a:rPr>
              <a:t>Predicción de demanda semanal en e-commerce, Olist (Brasil)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91056"/>
            <a:ext cx="11185855" cy="0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874519"/>
            <a:ext cx="6537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9BA1A8"/>
                </a:solidFill>
                <a:latin typeface="Georgia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67127"/>
            <a:ext cx="65379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ECE8E1"/>
                </a:solidFill>
                <a:latin typeface="Georgia"/>
              </a:rPr>
              <a:t>El reabastecimiento se decide únicamente con la demanda de la semana anterior. Esa inercia reactiva produce quiebres de stock recurrentes en las categorías de mayor rotación, con pérdida directa de ventas y fuga de clientes hacia la competencia.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3246119"/>
            <a:ext cx="6537960" cy="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3392423"/>
            <a:ext cx="6537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9BA1A8"/>
                </a:solidFill>
                <a:latin typeface="Georgia"/>
              </a:rPr>
              <a:t>la decisión que apoya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66743"/>
            <a:ext cx="6537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CE8E1"/>
                </a:solidFill>
                <a:latin typeface="Calibri"/>
              </a:rPr>
              <a:t>¿Cuánto stock aprovisionar cada semana, por categoría crítica, para evitar quiebres sin inmovilizar capital de más?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4142231"/>
            <a:ext cx="6537960" cy="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4288535"/>
            <a:ext cx="6537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9BA1A8"/>
                </a:solidFill>
                <a:latin typeface="Georgia"/>
              </a:rPr>
              <a:t>propuesta de mejora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62855"/>
            <a:ext cx="6537960" cy="650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dirty="0">
                <a:solidFill>
                  <a:srgbClr val="8CA58F"/>
                </a:solidFill>
                <a:latin typeface="Calibri"/>
              </a:rPr>
              <a:t>—  </a:t>
            </a:r>
            <a:r>
              <a:rPr sz="1200" dirty="0">
                <a:solidFill>
                  <a:srgbClr val="ECE8E1"/>
                </a:solidFill>
                <a:latin typeface="Calibri"/>
              </a:rPr>
              <a:t>Modelo de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regresión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(Random Forest)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sobre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la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serie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semanal</a:t>
            </a:r>
            <a:r>
              <a:rPr sz="1200" dirty="0">
                <a:solidFill>
                  <a:srgbClr val="ECE8E1"/>
                </a:solidFill>
                <a:latin typeface="Calibri"/>
              </a:rPr>
              <a:t>, con variables de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rezago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y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estacionalidad</a:t>
            </a:r>
            <a:r>
              <a:rPr sz="1200" dirty="0">
                <a:solidFill>
                  <a:srgbClr val="ECE8E1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dirty="0">
                <a:solidFill>
                  <a:srgbClr val="8CA58F"/>
                </a:solidFill>
                <a:latin typeface="Calibri"/>
              </a:rPr>
              <a:t>— 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Colchón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seguridad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del </a:t>
            </a:r>
            <a:r>
              <a:rPr lang="es-BO" sz="1200" dirty="0">
                <a:solidFill>
                  <a:srgbClr val="ECE8E1"/>
                </a:solidFill>
                <a:latin typeface="Calibri"/>
              </a:rPr>
              <a:t>8</a:t>
            </a:r>
            <a:r>
              <a:rPr sz="1200" dirty="0">
                <a:solidFill>
                  <a:srgbClr val="ECE8E1"/>
                </a:solidFill>
                <a:latin typeface="Calibri"/>
              </a:rPr>
              <a:t>%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sobre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la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predicción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puntual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como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regla</a:t>
            </a:r>
            <a:r>
              <a:rPr sz="1200" dirty="0">
                <a:solidFill>
                  <a:srgbClr val="ECE8E1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ECE8E1"/>
                </a:solidFill>
                <a:latin typeface="Calibri"/>
              </a:rPr>
              <a:t>aprovisionamiento</a:t>
            </a:r>
            <a:r>
              <a:rPr sz="1200" dirty="0">
                <a:solidFill>
                  <a:srgbClr val="ECE8E1"/>
                </a:solidFill>
                <a:latin typeface="Calibri"/>
              </a:rPr>
              <a:t>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5440679"/>
            <a:ext cx="6537960" cy="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5568695"/>
            <a:ext cx="6537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1">
                <a:solidFill>
                  <a:srgbClr val="9BA1A8"/>
                </a:solidFill>
                <a:latin typeface="Georgia"/>
              </a:rPr>
              <a:t>Reduce ingresos no capturados y protege el valor de vida del cliente sin aumentar el gasto en marketing o adquisición.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51192" y="1874519"/>
            <a:ext cx="0" cy="4160520"/>
          </a:xfrm>
          <a:prstGeom prst="line">
            <a:avLst/>
          </a:prstGeom>
          <a:ln w="28575">
            <a:solidFill>
              <a:srgbClr val="C7A4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52360" y="1874519"/>
            <a:ext cx="4236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9BA1A8"/>
                </a:solidFill>
                <a:latin typeface="Georgia"/>
              </a:rPr>
              <a:t>métrica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148839"/>
            <a:ext cx="4236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CE8E1"/>
                </a:solidFill>
                <a:latin typeface="Georgia"/>
              </a:rPr>
              <a:t>Tasa de Quiebre de 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514599"/>
            <a:ext cx="4236415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BO" sz="6800" b="1" dirty="0">
                <a:solidFill>
                  <a:srgbClr val="B0644A"/>
                </a:solidFill>
                <a:latin typeface="Georgia"/>
              </a:rPr>
              <a:t>45</a:t>
            </a:r>
            <a:r>
              <a:rPr sz="6800" b="1" i="0" dirty="0">
                <a:solidFill>
                  <a:srgbClr val="B0644A"/>
                </a:solidFill>
                <a:latin typeface="Georgia"/>
              </a:rP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611879"/>
            <a:ext cx="423641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 dirty="0" err="1">
                <a:solidFill>
                  <a:srgbClr val="9BA1A8"/>
                </a:solidFill>
                <a:latin typeface="Calibri"/>
              </a:rPr>
              <a:t>línea</a:t>
            </a:r>
            <a:r>
              <a:rPr sz="1050" b="0" i="1" dirty="0">
                <a:solidFill>
                  <a:srgbClr val="9BA1A8"/>
                </a:solidFill>
                <a:latin typeface="Calibri"/>
              </a:rPr>
              <a:t> base actual  (</a:t>
            </a:r>
            <a:r>
              <a:rPr lang="es-BO" sz="1050" b="0" i="1" dirty="0">
                <a:solidFill>
                  <a:srgbClr val="9BA1A8"/>
                </a:solidFill>
                <a:latin typeface="Calibri"/>
              </a:rPr>
              <a:t>18</a:t>
            </a:r>
            <a:r>
              <a:rPr sz="1050" b="0" i="1" dirty="0">
                <a:solidFill>
                  <a:srgbClr val="9BA1A8"/>
                </a:solidFill>
                <a:latin typeface="Calibri"/>
              </a:rPr>
              <a:t> de </a:t>
            </a:r>
            <a:r>
              <a:rPr lang="es-BO" sz="1050" i="1" dirty="0">
                <a:solidFill>
                  <a:srgbClr val="9BA1A8"/>
                </a:solidFill>
                <a:latin typeface="Calibri"/>
              </a:rPr>
              <a:t>40</a:t>
            </a:r>
            <a:r>
              <a:rPr sz="1050" b="0" i="1" dirty="0">
                <a:solidFill>
                  <a:srgbClr val="9BA1A8"/>
                </a:solidFill>
                <a:latin typeface="Calibri"/>
              </a:rPr>
              <a:t> </a:t>
            </a:r>
            <a:r>
              <a:rPr sz="1050" b="0" i="1" dirty="0" err="1">
                <a:solidFill>
                  <a:srgbClr val="9BA1A8"/>
                </a:solidFill>
                <a:latin typeface="Calibri"/>
              </a:rPr>
              <a:t>semanas</a:t>
            </a:r>
            <a:r>
              <a:rPr sz="1050" b="0" i="1" dirty="0">
                <a:solidFill>
                  <a:srgbClr val="9BA1A8"/>
                </a:solidFill>
                <a:latin typeface="Calibri"/>
              </a:rPr>
              <a:t> </a:t>
            </a:r>
            <a:r>
              <a:rPr sz="1050" b="0" i="1" dirty="0" err="1">
                <a:solidFill>
                  <a:srgbClr val="9BA1A8"/>
                </a:solidFill>
                <a:latin typeface="Calibri"/>
              </a:rPr>
              <a:t>evaluadas</a:t>
            </a:r>
            <a:r>
              <a:rPr sz="1050" b="0" i="1" dirty="0">
                <a:solidFill>
                  <a:srgbClr val="9BA1A8"/>
                </a:solidFill>
                <a:latin typeface="Calibri"/>
              </a:rPr>
              <a:t>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2360" y="3995927"/>
            <a:ext cx="4236415" cy="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52360" y="4114799"/>
            <a:ext cx="4236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9BA1A8"/>
                </a:solidFill>
                <a:latin typeface="Calibri"/>
              </a:rPr>
              <a:t>TQS = semanas con quiebre ÷ semanas evaluadas × 100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9BA1A8"/>
                </a:solidFill>
                <a:latin typeface="Calibri"/>
              </a:rPr>
              <a:t>hay quiebre cuando la demanda real supera a la predicha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52360" y="4745735"/>
            <a:ext cx="4236415" cy="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52360" y="4864607"/>
            <a:ext cx="4236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BA1A8"/>
                </a:solidFill>
                <a:latin typeface="Georgia"/>
              </a:rPr>
              <a:t>meta proyectada, no un resultado ya operativo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129783"/>
            <a:ext cx="4236415" cy="332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s-BO" sz="2200" b="1" dirty="0">
                <a:solidFill>
                  <a:srgbClr val="B0644A"/>
                </a:solidFill>
                <a:latin typeface="Georgia"/>
              </a:rPr>
              <a:t>45</a:t>
            </a:r>
            <a:r>
              <a:rPr sz="2200" b="1" i="0" dirty="0">
                <a:solidFill>
                  <a:srgbClr val="B0644A"/>
                </a:solidFill>
                <a:latin typeface="Georgia"/>
              </a:rPr>
              <a:t>%</a:t>
            </a:r>
            <a:r>
              <a:rPr sz="2200" b="0" i="0" dirty="0">
                <a:solidFill>
                  <a:srgbClr val="9BA1A8"/>
                </a:solidFill>
                <a:latin typeface="Georgia"/>
              </a:rPr>
              <a:t>  →  </a:t>
            </a:r>
            <a:r>
              <a:rPr lang="es-BO" sz="2200" b="1" dirty="0">
                <a:solidFill>
                  <a:srgbClr val="8CA58F"/>
                </a:solidFill>
                <a:latin typeface="Georgia"/>
              </a:rPr>
              <a:t>25</a:t>
            </a:r>
            <a:r>
              <a:rPr sz="2200" b="1" i="0" dirty="0">
                <a:solidFill>
                  <a:srgbClr val="8CA58F"/>
                </a:solidFill>
                <a:latin typeface="Georgia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5559551"/>
            <a:ext cx="4236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BA1A8"/>
                </a:solidFill>
                <a:latin typeface="Calibri"/>
              </a:rPr>
              <a:t>actual                    meta en prueba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843015"/>
            <a:ext cx="423641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BO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Meta aspiracional: menos del 5%; todavía no alcanzada</a:t>
            </a:r>
            <a:endParaRPr sz="1150" b="0" i="1" dirty="0">
              <a:solidFill>
                <a:schemeClr val="accent6">
                  <a:lumMod val="60000"/>
                  <a:lumOff val="40000"/>
                </a:schemeClr>
              </a:solidFill>
              <a:latin typeface="Georgia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BA1A8"/>
                </a:solidFill>
                <a:latin typeface="Calibri"/>
              </a:rPr>
              <a:t>Diapositiva 1 de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095" y="64739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BA1A8"/>
                </a:solidFill>
                <a:latin typeface="Calibri"/>
              </a:rPr>
              <a:t>UNIFRANZ — 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C7A468"/>
                </a:solidFill>
                <a:latin typeface="Georgia"/>
              </a:rPr>
              <a:t>Fase 2: entendimiento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 dirty="0">
                <a:solidFill>
                  <a:srgbClr val="ECE8E1"/>
                </a:solidFill>
                <a:latin typeface="Georgia"/>
              </a:rPr>
              <a:t>Lo </a:t>
            </a:r>
            <a:r>
              <a:rPr sz="3000" b="0" i="0" dirty="0" err="1">
                <a:solidFill>
                  <a:srgbClr val="ECE8E1"/>
                </a:solidFill>
                <a:latin typeface="Georgia"/>
              </a:rPr>
              <a:t>que</a:t>
            </a:r>
            <a:r>
              <a:rPr sz="3000" b="0" i="0" dirty="0">
                <a:solidFill>
                  <a:srgbClr val="ECE8E1"/>
                </a:solidFill>
                <a:latin typeface="Georgia"/>
              </a:rPr>
              <a:t> </a:t>
            </a:r>
            <a:r>
              <a:rPr sz="3000" b="0" i="0" dirty="0" err="1">
                <a:solidFill>
                  <a:srgbClr val="ECE8E1"/>
                </a:solidFill>
                <a:latin typeface="Georgia"/>
              </a:rPr>
              <a:t>revelan</a:t>
            </a:r>
            <a:r>
              <a:rPr sz="3000" b="0" i="0" dirty="0">
                <a:solidFill>
                  <a:srgbClr val="ECE8E1"/>
                </a:solidFill>
                <a:latin typeface="Georgia"/>
              </a:rPr>
              <a:t> 8</a:t>
            </a:r>
            <a:r>
              <a:rPr lang="es-BO" sz="3000" b="0" i="0" dirty="0">
                <a:solidFill>
                  <a:srgbClr val="ECE8E1"/>
                </a:solidFill>
                <a:latin typeface="Georgia"/>
              </a:rPr>
              <a:t>8</a:t>
            </a:r>
            <a:r>
              <a:rPr sz="3000" b="0" i="0" dirty="0">
                <a:solidFill>
                  <a:srgbClr val="ECE8E1"/>
                </a:solidFill>
                <a:latin typeface="Georgia"/>
              </a:rPr>
              <a:t> </a:t>
            </a:r>
            <a:r>
              <a:rPr sz="3000" b="0" i="0" dirty="0" err="1">
                <a:solidFill>
                  <a:srgbClr val="ECE8E1"/>
                </a:solidFill>
                <a:latin typeface="Georgia"/>
              </a:rPr>
              <a:t>semanas</a:t>
            </a:r>
            <a:r>
              <a:rPr sz="3000" b="0" i="0" dirty="0">
                <a:solidFill>
                  <a:srgbClr val="ECE8E1"/>
                </a:solidFill>
                <a:latin typeface="Georgia"/>
              </a:rPr>
              <a:t> de </a:t>
            </a:r>
            <a:r>
              <a:rPr sz="3000" b="0" i="0" dirty="0" err="1">
                <a:solidFill>
                  <a:srgbClr val="ECE8E1"/>
                </a:solidFill>
                <a:latin typeface="Georgia"/>
              </a:rPr>
              <a:t>demanda</a:t>
            </a:r>
            <a:r>
              <a:rPr sz="3000" b="0" i="0" dirty="0">
                <a:solidFill>
                  <a:srgbClr val="ECE8E1"/>
                </a:solidFill>
                <a:latin typeface="Georgia"/>
              </a:rPr>
              <a:t>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BA1A8"/>
                </a:solidFill>
                <a:latin typeface="Calibri"/>
              </a:rPr>
              <a:t>Serie semanal consolidada a partir del histórico de transacciones Olist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91056"/>
            <a:ext cx="11185855" cy="0"/>
          </a:xfrm>
          <a:prstGeom prst="line">
            <a:avLst/>
          </a:prstGeom>
          <a:ln w="12700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719072"/>
            <a:ext cx="19628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BA1A8"/>
                </a:solidFill>
                <a:latin typeface="Georgia"/>
              </a:rPr>
              <a:t>fuente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96285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ECE8E1"/>
                </a:solidFill>
                <a:latin typeface="Calibri"/>
              </a:rPr>
              <a:t>Olist E-commerce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ECE8E1"/>
                </a:solidFill>
                <a:latin typeface="Calibri"/>
              </a:rPr>
              <a:t>(Brasil, dataset público)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1737360"/>
            <a:ext cx="0" cy="77724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22971" y="1719072"/>
            <a:ext cx="19628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BA1A8"/>
                </a:solidFill>
                <a:latin typeface="Georgia"/>
              </a:rPr>
              <a:t>registros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2971" y="2011680"/>
            <a:ext cx="1962851" cy="343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dirty="0">
                <a:solidFill>
                  <a:srgbClr val="ECE8E1"/>
                </a:solidFill>
                <a:latin typeface="Calibri"/>
              </a:rPr>
              <a:t>8</a:t>
            </a:r>
            <a:r>
              <a:rPr lang="es-BO" sz="1000" b="0" i="0" dirty="0">
                <a:solidFill>
                  <a:srgbClr val="ECE8E1"/>
                </a:solidFill>
                <a:latin typeface="Calibri"/>
              </a:rPr>
              <a:t>8</a:t>
            </a:r>
            <a:r>
              <a:rPr sz="1000" b="0" i="0" dirty="0">
                <a:solidFill>
                  <a:srgbClr val="ECE8E1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ECE8E1"/>
                </a:solidFill>
                <a:latin typeface="Calibri"/>
              </a:rPr>
              <a:t>semanas</a:t>
            </a:r>
            <a:r>
              <a:rPr sz="1000" b="0" i="0" dirty="0">
                <a:solidFill>
                  <a:srgbClr val="ECE8E1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ECE8E1"/>
                </a:solidFill>
                <a:latin typeface="Calibri"/>
              </a:rPr>
              <a:t>consolidadas</a:t>
            </a:r>
            <a:endParaRPr sz="1000" b="0" i="0" dirty="0">
              <a:solidFill>
                <a:srgbClr val="ECE8E1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dirty="0" err="1">
                <a:solidFill>
                  <a:srgbClr val="ECE8E1"/>
                </a:solidFill>
                <a:latin typeface="Calibri"/>
              </a:rPr>
              <a:t>ene</a:t>
            </a:r>
            <a:r>
              <a:rPr sz="1000" b="0" i="0" dirty="0">
                <a:solidFill>
                  <a:srgbClr val="ECE8E1"/>
                </a:solidFill>
                <a:latin typeface="Calibri"/>
              </a:rPr>
              <a:t>. 2017 – ago. 2018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1737360"/>
            <a:ext cx="0" cy="77724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60142" y="1719072"/>
            <a:ext cx="19628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BA1A8"/>
                </a:solidFill>
                <a:latin typeface="Georgia"/>
              </a:rPr>
              <a:t>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0142" y="2011680"/>
            <a:ext cx="1962851" cy="343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dirty="0">
                <a:solidFill>
                  <a:srgbClr val="ECE8E1"/>
                </a:solidFill>
                <a:latin typeface="Calibri"/>
              </a:rPr>
              <a:t>1</a:t>
            </a:r>
            <a:r>
              <a:rPr lang="es-BO" sz="1000" b="0" i="0" dirty="0">
                <a:solidFill>
                  <a:srgbClr val="ECE8E1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ECE8E1"/>
                </a:solidFill>
                <a:latin typeface="Calibri"/>
              </a:rPr>
              <a:t> variables: </a:t>
            </a:r>
            <a:r>
              <a:rPr sz="1000" b="0" i="0" dirty="0" err="1">
                <a:solidFill>
                  <a:srgbClr val="ECE8E1"/>
                </a:solidFill>
                <a:latin typeface="Calibri"/>
              </a:rPr>
              <a:t>temporales</a:t>
            </a:r>
            <a:r>
              <a:rPr sz="1000" b="0" i="0" dirty="0">
                <a:solidFill>
                  <a:srgbClr val="ECE8E1"/>
                </a:solidFill>
                <a:latin typeface="Calibri"/>
              </a:rPr>
              <a:t>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dirty="0" err="1">
                <a:solidFill>
                  <a:srgbClr val="ECE8E1"/>
                </a:solidFill>
                <a:latin typeface="Calibri"/>
              </a:rPr>
              <a:t>rezagos</a:t>
            </a:r>
            <a:r>
              <a:rPr sz="1000" b="0" i="0" dirty="0">
                <a:solidFill>
                  <a:srgbClr val="ECE8E1"/>
                </a:solidFill>
                <a:latin typeface="Calibri"/>
              </a:rPr>
              <a:t> (1–4), medias </a:t>
            </a:r>
            <a:r>
              <a:rPr sz="1000" b="0" i="0" dirty="0" err="1">
                <a:solidFill>
                  <a:srgbClr val="ECE8E1"/>
                </a:solidFill>
                <a:latin typeface="Calibri"/>
              </a:rPr>
              <a:t>móviles</a:t>
            </a:r>
            <a:endParaRPr sz="1000" b="0" i="0" dirty="0">
              <a:solidFill>
                <a:srgbClr val="ECE8E1"/>
              </a:solidFill>
              <a:latin typeface="Calibri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0" y="1737360"/>
            <a:ext cx="0" cy="77724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97313" y="1719072"/>
            <a:ext cx="19628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BA1A8"/>
                </a:solidFill>
                <a:latin typeface="Georgia"/>
              </a:rPr>
              <a:t>faltantes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313" y="2011680"/>
            <a:ext cx="196285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ECE8E1"/>
                </a:solidFill>
                <a:latin typeface="Calibri"/>
              </a:rPr>
              <a:t>sin huecos semanales; se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ECE8E1"/>
                </a:solidFill>
                <a:latin typeface="Calibri"/>
              </a:rPr>
              <a:t>excluyeron pedidos cancelados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1737360"/>
            <a:ext cx="0" cy="77724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34484" y="1719072"/>
            <a:ext cx="19628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BA1A8"/>
                </a:solidFill>
                <a:latin typeface="Georgia"/>
              </a:rPr>
              <a:t>atípicos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4484" y="2011680"/>
            <a:ext cx="196285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ECE8E1"/>
                </a:solidFill>
                <a:latin typeface="Calibri"/>
              </a:rPr>
              <a:t>1 caso (regla IQR); se conservó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ECE8E1"/>
                </a:solidFill>
                <a:latin typeface="Calibri"/>
              </a:rPr>
              <a:t>por ser un evento real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2587752"/>
            <a:ext cx="11185855" cy="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chart_distrib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24912"/>
            <a:ext cx="5432907" cy="1783080"/>
          </a:xfrm>
          <a:prstGeom prst="rect">
            <a:avLst/>
          </a:prstGeom>
        </p:spPr>
      </p:pic>
      <p:pic>
        <p:nvPicPr>
          <p:cNvPr id="22" name="Picture 21" descr="chart_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2724912"/>
            <a:ext cx="5432907" cy="1783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4599432"/>
            <a:ext cx="54329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BA1A8"/>
                </a:solidFill>
                <a:latin typeface="Calibri"/>
              </a:rPr>
              <a:t>Sesgo positivo (asimetría 0.42): la mayoría de semanas se concentra entre 870 y 1 800 unidades, con cola larga hacia picos estacionales.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867" y="4599432"/>
            <a:ext cx="54329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BA1A8"/>
                </a:solidFill>
                <a:latin typeface="Calibri"/>
              </a:rPr>
              <a:t>Relación fuerte pero con desfase de una semana: explica por qué el baseline funciona casi siempre, salvo cuando la demanda cambia de golpe.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4983480"/>
            <a:ext cx="11185855" cy="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50749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9BA1A8"/>
                </a:solidFill>
                <a:latin typeface="Georgia"/>
              </a:rPr>
              <a:t>preguntas que guían el análisis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49240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9BA1A8"/>
                </a:solidFill>
                <a:latin typeface="Calibri"/>
              </a:rPr>
              <a:t>—  </a:t>
            </a:r>
            <a:r>
              <a:rPr sz="1050">
                <a:solidFill>
                  <a:srgbClr val="ECE8E1"/>
                </a:solidFill>
                <a:latin typeface="Calibri"/>
              </a:rPr>
              <a:t>¿Qué tan completa y confiable es la serie histórica?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9BA1A8"/>
                </a:solidFill>
                <a:latin typeface="Calibri"/>
              </a:rPr>
              <a:t>—  </a:t>
            </a:r>
            <a:r>
              <a:rPr sz="1050">
                <a:solidFill>
                  <a:srgbClr val="ECE8E1"/>
                </a:solidFill>
                <a:latin typeface="Calibri"/>
              </a:rPr>
              <a:t>¿Hay estacionalidad o picos que el modelo deba capturar?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9BA1A8"/>
                </a:solidFill>
                <a:latin typeface="Calibri"/>
              </a:rPr>
              <a:t>—  </a:t>
            </a:r>
            <a:r>
              <a:rPr sz="1050">
                <a:solidFill>
                  <a:srgbClr val="ECE8E1"/>
                </a:solidFill>
                <a:latin typeface="Calibri"/>
              </a:rPr>
              <a:t>¿Qué tan fuerte es la relación entre demanda actual y previa?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9BA1A8"/>
                </a:solidFill>
                <a:latin typeface="Calibri"/>
              </a:rPr>
              <a:t>—  </a:t>
            </a:r>
            <a:r>
              <a:rPr sz="1050">
                <a:solidFill>
                  <a:srgbClr val="ECE8E1"/>
                </a:solidFill>
                <a:latin typeface="Calibri"/>
              </a:rPr>
              <a:t>¿Los atípicos son errores o eventos reales de negocio?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9BA1A8"/>
                </a:solidFill>
                <a:latin typeface="Calibri"/>
              </a:rPr>
              <a:t>—  </a:t>
            </a:r>
            <a:r>
              <a:rPr sz="1050">
                <a:solidFill>
                  <a:srgbClr val="ECE8E1"/>
                </a:solidFill>
                <a:latin typeface="Calibri"/>
              </a:rPr>
              <a:t>¿Qué variables aportan más señal predictiva?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63640" y="5074920"/>
            <a:ext cx="0" cy="1234440"/>
          </a:xfrm>
          <a:prstGeom prst="line">
            <a:avLst/>
          </a:prstGeom>
          <a:ln w="28575">
            <a:solidFill>
              <a:srgbClr val="C7A4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64808" y="5074920"/>
            <a:ext cx="52239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C7A468"/>
                </a:solidFill>
                <a:latin typeface="Georgia"/>
              </a:rPr>
              <a:t>hallazgo interesante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5367528"/>
            <a:ext cx="515081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0" i="0" dirty="0">
                <a:solidFill>
                  <a:srgbClr val="ECE8E1"/>
                </a:solidFill>
                <a:latin typeface="Georgia"/>
              </a:rPr>
              <a:t>En la </a:t>
            </a:r>
            <a:r>
              <a:rPr sz="1100" b="0" i="0" dirty="0" err="1">
                <a:solidFill>
                  <a:srgbClr val="ECE8E1"/>
                </a:solidFill>
                <a:latin typeface="Georgia"/>
              </a:rPr>
              <a:t>semana</a:t>
            </a:r>
            <a:r>
              <a:rPr sz="1100" b="0" i="0" dirty="0">
                <a:solidFill>
                  <a:srgbClr val="ECE8E1"/>
                </a:solidFill>
                <a:latin typeface="Georgia"/>
              </a:rPr>
              <a:t> de Black Friday, la </a:t>
            </a:r>
            <a:r>
              <a:rPr sz="1100" b="0" i="0" dirty="0" err="1">
                <a:solidFill>
                  <a:srgbClr val="ECE8E1"/>
                </a:solidFill>
                <a:latin typeface="Georgia"/>
              </a:rPr>
              <a:t>demanda</a:t>
            </a:r>
            <a:r>
              <a:rPr sz="1100" b="0" i="0" dirty="0">
                <a:solidFill>
                  <a:srgbClr val="ECE8E1"/>
                </a:solidFill>
                <a:latin typeface="Georgia"/>
              </a:rPr>
              <a:t> </a:t>
            </a:r>
            <a:r>
              <a:rPr sz="1100" b="0" i="0" dirty="0" err="1">
                <a:solidFill>
                  <a:srgbClr val="ECE8E1"/>
                </a:solidFill>
                <a:latin typeface="Georgia"/>
              </a:rPr>
              <a:t>saltó</a:t>
            </a:r>
            <a:r>
              <a:rPr sz="1100" b="0" i="0" dirty="0">
                <a:solidFill>
                  <a:srgbClr val="ECE8E1"/>
                </a:solidFill>
                <a:latin typeface="Georgia"/>
              </a:rPr>
              <a:t> 135% </a:t>
            </a:r>
            <a:r>
              <a:rPr sz="1100" b="0" i="0" dirty="0" err="1">
                <a:solidFill>
                  <a:srgbClr val="ECE8E1"/>
                </a:solidFill>
                <a:latin typeface="Georgia"/>
              </a:rPr>
              <a:t>frente</a:t>
            </a:r>
            <a:r>
              <a:rPr sz="1100" b="0" i="0" dirty="0">
                <a:solidFill>
                  <a:srgbClr val="ECE8E1"/>
                </a:solidFill>
                <a:latin typeface="Georgia"/>
              </a:rPr>
              <a:t> a la </a:t>
            </a:r>
            <a:r>
              <a:rPr sz="1100" b="0" i="0" dirty="0" err="1">
                <a:solidFill>
                  <a:srgbClr val="ECE8E1"/>
                </a:solidFill>
                <a:latin typeface="Georgia"/>
              </a:rPr>
              <a:t>semana</a:t>
            </a:r>
            <a:r>
              <a:rPr sz="1100" b="0" i="0" dirty="0">
                <a:solidFill>
                  <a:srgbClr val="ECE8E1"/>
                </a:solidFill>
                <a:latin typeface="Georgia"/>
              </a:rPr>
              <a:t> previa </a:t>
            </a:r>
            <a:r>
              <a:rPr sz="1100" b="0" i="0" dirty="0">
                <a:solidFill>
                  <a:schemeClr val="bg1"/>
                </a:solidFill>
                <a:latin typeface="Georgia"/>
              </a:rPr>
              <a:t>(</a:t>
            </a:r>
            <a:r>
              <a:rPr lang="es-BO" sz="1100" dirty="0">
                <a:solidFill>
                  <a:schemeClr val="bg1"/>
                </a:solidFill>
              </a:rPr>
              <a:t>1.502 a 3.497</a:t>
            </a:r>
            <a:r>
              <a:rPr sz="1100" b="0" i="0" dirty="0">
                <a:solidFill>
                  <a:schemeClr val="bg1"/>
                </a:solidFill>
                <a:latin typeface="Georgia"/>
              </a:rPr>
              <a:t> </a:t>
            </a:r>
            <a:r>
              <a:rPr sz="1100" b="0" i="0" dirty="0" err="1">
                <a:solidFill>
                  <a:srgbClr val="ECE8E1"/>
                </a:solidFill>
                <a:latin typeface="Georgia"/>
              </a:rPr>
              <a:t>unidades</a:t>
            </a:r>
            <a:r>
              <a:rPr sz="1100" b="0" i="0" dirty="0">
                <a:solidFill>
                  <a:srgbClr val="ECE8E1"/>
                </a:solidFill>
                <a:latin typeface="Georgia"/>
              </a:rPr>
              <a:t>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5989320"/>
            <a:ext cx="5150815" cy="300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dirty="0">
                <a:solidFill>
                  <a:srgbClr val="C7A468"/>
                </a:solidFill>
                <a:latin typeface="Calibri"/>
              </a:rPr>
              <a:t>—  </a:t>
            </a:r>
            <a:r>
              <a:rPr sz="950" dirty="0">
                <a:solidFill>
                  <a:srgbClr val="9BA1A8"/>
                </a:solidFill>
                <a:latin typeface="Calibri"/>
              </a:rPr>
              <a:t>El baseline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habría</a:t>
            </a:r>
            <a:r>
              <a:rPr sz="950" dirty="0">
                <a:solidFill>
                  <a:srgbClr val="9BA1A8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provisto</a:t>
            </a:r>
            <a:r>
              <a:rPr sz="950" dirty="0">
                <a:solidFill>
                  <a:srgbClr val="9BA1A8"/>
                </a:solidFill>
                <a:latin typeface="Calibri"/>
              </a:rPr>
              <a:t> solo 1 </a:t>
            </a:r>
            <a:r>
              <a:rPr lang="es-BO" sz="950" dirty="0">
                <a:solidFill>
                  <a:srgbClr val="9BA1A8"/>
                </a:solidFill>
                <a:latin typeface="Calibri"/>
              </a:rPr>
              <a:t>502</a:t>
            </a:r>
            <a:r>
              <a:rPr sz="950" dirty="0">
                <a:solidFill>
                  <a:srgbClr val="9BA1A8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unidades</a:t>
            </a:r>
            <a:r>
              <a:rPr sz="950" dirty="0">
                <a:solidFill>
                  <a:srgbClr val="9BA1A8"/>
                </a:solidFill>
                <a:latin typeface="Calibri"/>
              </a:rPr>
              <a:t>: el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quiebre</a:t>
            </a:r>
            <a:r>
              <a:rPr sz="950" dirty="0">
                <a:solidFill>
                  <a:srgbClr val="9BA1A8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más</a:t>
            </a:r>
            <a:r>
              <a:rPr sz="950" dirty="0">
                <a:solidFill>
                  <a:srgbClr val="9BA1A8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severo</a:t>
            </a:r>
            <a:r>
              <a:rPr sz="950" dirty="0">
                <a:solidFill>
                  <a:srgbClr val="9BA1A8"/>
                </a:solidFill>
                <a:latin typeface="Calibri"/>
              </a:rPr>
              <a:t> del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año</a:t>
            </a:r>
            <a:r>
              <a:rPr sz="950" dirty="0">
                <a:solidFill>
                  <a:srgbClr val="9BA1A8"/>
                </a:solidFill>
                <a:latin typeface="Calibri"/>
              </a:rPr>
              <a:t>,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justo</a:t>
            </a:r>
            <a:r>
              <a:rPr sz="950" dirty="0">
                <a:solidFill>
                  <a:srgbClr val="9BA1A8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en</a:t>
            </a:r>
            <a:r>
              <a:rPr sz="950" dirty="0">
                <a:solidFill>
                  <a:srgbClr val="9BA1A8"/>
                </a:solidFill>
                <a:latin typeface="Calibri"/>
              </a:rPr>
              <a:t> la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semana</a:t>
            </a:r>
            <a:r>
              <a:rPr sz="950" dirty="0">
                <a:solidFill>
                  <a:srgbClr val="9BA1A8"/>
                </a:solidFill>
                <a:latin typeface="Calibri"/>
              </a:rPr>
              <a:t> de mayor </a:t>
            </a:r>
            <a:r>
              <a:rPr sz="950" dirty="0" err="1">
                <a:solidFill>
                  <a:srgbClr val="9BA1A8"/>
                </a:solidFill>
                <a:latin typeface="Calibri"/>
              </a:rPr>
              <a:t>facturación</a:t>
            </a:r>
            <a:r>
              <a:rPr sz="950" dirty="0">
                <a:solidFill>
                  <a:srgbClr val="9BA1A8"/>
                </a:solidFill>
                <a:latin typeface="Calibri"/>
              </a:rPr>
              <a:t>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3A40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BA1A8"/>
                </a:solidFill>
                <a:latin typeface="Calibri"/>
              </a:rPr>
              <a:t>Diapositiva 2 de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095" y="64739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BA1A8"/>
                </a:solidFill>
                <a:latin typeface="Calibri"/>
              </a:rPr>
              <a:t>UNIFRANZ — Ingeniería de Sistemas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483</Words>
  <Application>Microsoft Office PowerPoint</Application>
  <PresentationFormat>Panorámica</PresentationFormat>
  <Paragraphs>54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Jesus Gabriel Cruz Lavadenz</dc:creator>
  <cp:keywords/>
  <dc:description>generated using python-pptx</dc:description>
  <cp:lastModifiedBy>Jesus Gabriel Cruz Lavadenz</cp:lastModifiedBy>
  <cp:revision>2</cp:revision>
  <dcterms:created xsi:type="dcterms:W3CDTF">2013-01-27T09:14:16Z</dcterms:created>
  <dcterms:modified xsi:type="dcterms:W3CDTF">2026-09-09T21:10:39Z</dcterms:modified>
  <cp:category/>
</cp:coreProperties>
</file>